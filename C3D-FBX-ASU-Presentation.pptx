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8" r:id="rId19"/>
    <p:sldId id="269" r:id="rId20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9" Type="http://schemas.openxmlformats.org/officeDocument/2006/relationships/slide" Target="slides/slide4.xml"/><Relationship Id="rId2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645920"/>
            <a:ext cx="73152" cy="3200400"/>
          </a:xfrm>
          <a:prstGeom prst="rect">
            <a:avLst/>
          </a:prstGeom>
          <a:solidFill>
            <a:srgbClr val="DC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B4DC"/>
                </a:solidFill>
              </a:rPr>
              <a:t>CLINICAL MOTION CAPTURE → INTERACTIVE VISUALIZATION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C3D to FBX</a:t>
            </a:r>
            <a:br/>
            <a:r>
              <a:t>Conversion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4C8E6"/>
                </a:solidFill>
              </a:rPr>
              <a:t>Bridging clinical biomechanics and real-time game engines for patient rehabilitation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896B4"/>
                </a:solidFill>
              </a:rPr>
              <a:t>James Sypherd  ·  Cypher and Kato Game Dev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63440"/>
            <a:ext cx="2011680" cy="4114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Python · Blender · Unreal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CLINICAL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❶  Clinical data sits in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9961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Physical therapy labs collect rich biomechanical data — and it never leaves the CSV.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❷  Patients see numbers, not movement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0545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Charts and spreadsheets don't build intuition or motivation.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10896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154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❸  Compliance drops 50% after 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112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Without engaging feedback, patients stop doing home exercises.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11480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60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❹  Existing software costs $100K+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51713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Vicon, Qualisys — great for research, unusable for average PT clinic.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120640"/>
            <a:ext cx="11430000" cy="868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❺  No real-time gamification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52297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D2EB"/>
                </a:solidFill>
              </a:rPr>
              <a:t>The hardware exists. The bridge to interactive experiences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2057400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📡  C3D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Binary clinical</a:t>
            </a:r>
            <a:br/>
            <a:r>
              <a:t>format</a:t>
            </a:r>
            <a:br/>
            <a:r>
              <a:t>(Vicon/Nexus)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2888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143000"/>
            <a:ext cx="2057400" cy="219456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 Inspect</a:t>
            </a:r>
            <a:br/>
            <a:r>
              <a:t>+ Validate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inspect_c3d.py</a:t>
            </a:r>
            <a:br/>
            <a:r>
              <a:t>Label discovery</a:t>
            </a:r>
            <a:br/>
            <a:r>
              <a:t>Marker mapping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143000"/>
            <a:ext cx="2057400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9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🧮  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79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solve_csv_to_ue_</a:t>
            </a:r>
            <a:br/>
            <a:r>
              <a:t>rigjson.py</a:t>
            </a:r>
            <a:br/>
            <a:r>
              <a:t>Forward kinematics</a:t>
            </a:r>
            <a:br/>
            <a:r>
              <a:t>Delta quaternions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6327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59" y="1143000"/>
            <a:ext cx="2057400" cy="219456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799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🦴  Rig + Animate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799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blender_virtual_</a:t>
            </a:r>
            <a:br/>
            <a:r>
              <a:t>csv_to_fbx.py</a:t>
            </a:r>
            <a:br/>
            <a:r>
              <a:t>Mixamo skeleton</a:t>
            </a:r>
            <a:br/>
            <a:r>
              <a:t>T-pose → motion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8047" y="201168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C6400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143000"/>
            <a:ext cx="2057400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19" y="11887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🎮  FBX → UE5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19" y="1828800"/>
            <a:ext cx="187451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BF0F8"/>
                </a:solidFill>
              </a:rPr>
              <a:t>Unreal Engine</a:t>
            </a:r>
            <a:br/>
            <a:r>
              <a:t>Import ready</a:t>
            </a:r>
            <a:br/>
            <a:r>
              <a:t>Retarget to</a:t>
            </a:r>
            <a:br/>
            <a:r>
              <a:t>Mannequin/Meta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4C8E6"/>
                </a:solidFill>
              </a:rPr>
              <a:t>Real .C3D file included in repo: t7updated2_1111111_2022_01_03_barewalk1.c3d  (clinical gait data)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Key innovation: Mixamo-named skeleton output → drops directly into UE5 / Unity retargeting with ZERO manual rigging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USE CASE: PHYSICAL THERAPY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123444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6400"/>
                </a:solidFill>
              </a:rPr>
              <a:t>❶  Patient sees their own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ED2EB"/>
                </a:solidFill>
              </a:rPr>
              <a:t>Capture motion during therapy → visualize real-time in Unreal Engine. No guesswork — patients see exactly how they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1457432" cy="123444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6400"/>
                </a:solidFill>
              </a:rPr>
              <a:t>❷  Objective progress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74320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ED2EB"/>
                </a:solidFill>
              </a:rPr>
              <a:t>Week-over-week gait comparison using actual clinical C3D data. PTs replace subjective notes with quantified biomechanics.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566160"/>
            <a:ext cx="11457432" cy="123444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611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6400"/>
                </a:solidFill>
              </a:rPr>
              <a:t>❸  Gamified 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02336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ED2EB"/>
                </a:solidFill>
              </a:rPr>
              <a:t>Compliance improves 30-60% with visual feedback. Patients stay engaged because they can see improvement — not just feel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846320"/>
            <a:ext cx="11457432" cy="123444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892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6400"/>
                </a:solidFill>
              </a:rPr>
              <a:t>❹  No new hardware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0352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ED2EB"/>
                </a:solidFill>
              </a:rPr>
              <a:t>Your Vicon/Nexus lab already captures the data. This tool bridges the gap to interactive visualization at zero hardware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USE CASE: RESEARCH &amp; SPORTS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123444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6400"/>
                </a:solidFill>
              </a:rPr>
              <a:t>❶  Unlock years of archived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ED2EB"/>
                </a:solidFill>
              </a:rPr>
              <a:t>Labs have terabytes of C3D files sitting unused. Convert them into interactive 3D scenes — no re-collection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1457432" cy="123444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6400"/>
                </a:solidFill>
              </a:rPr>
              <a:t>❷  Side-by-side athlete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74320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ED2EB"/>
                </a:solidFill>
              </a:rPr>
              <a:t>Overlay two skeletons in UE5 to compare gait patterns, ROM, and asymmetries. Instantly visual for coaches and clinicians.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566160"/>
            <a:ext cx="11457432" cy="123444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61188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6400"/>
                </a:solidFill>
              </a:rPr>
              <a:t>❸  Conference-ready presentations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02336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ED2EB"/>
                </a:solidFill>
              </a:rPr>
              <a:t>Bring your motion data to life for funding pitches, publications, and academic conferences with real-time 3D demos.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846320"/>
            <a:ext cx="11457432" cy="123444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892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6400"/>
                </a:solidFill>
              </a:rPr>
              <a:t>❹  MetaHuman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0352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BED2EB"/>
                </a:solidFill>
              </a:rPr>
              <a:t>LiDAR scanning + C3D data → patient-specific MetaHuman avatars. Future roadmap: clinical digital twins for pre-surgical planning.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CODE SPOTLIGHT 1 — inspect_c3d.py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7EB"/>
                </a:solidFill>
              </a:rPr>
              <a:t>Problem: .C3D files from different labs use different marker naming conventions. This tool auto-discovers what's usable.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400800" cy="3474720"/>
          </a:xfrm>
          <a:prstGeom prst="rect">
            <a:avLst/>
          </a:prstGeom>
          <a:solidFill>
            <a:srgbClr val="12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217920" cy="3291840"/>
          </a:xfrm>
          <a:prstGeom prst="rect">
            <a:avLst/>
          </a:prstGeom>
          <a:solidFill>
            <a:srgbClr val="121624"/>
          </a:solidFill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Load C3D binary using ezc3d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c3d = ezc3d.c3d(path)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point_labels = c3d['parameters']['POINT']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            ['LABELS']['value']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Fuzzy-match upper body markers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upper_keywords = [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"C7","CLAV","SHO","ELB","WRI",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"HEAD","FHEA","THEA","V_","JC"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Smart filter: remove lower-body false hits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lower_only_block = [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"KNEE","ANKLE","TOE","HEEL"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Output: structured spec list for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417320"/>
            <a:ext cx="4572000" cy="347472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C850"/>
                </a:solidFill>
              </a:rPr>
              <a:t>WHY IT MATTERS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Every mocap lab names markers differently.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Vicon uses LSHO, others use LeftShoulder.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This tool auto-maps 80+ common label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variations to a canonical set.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Generates copy-paste spec template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for the downstream CSV scripts.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Result: lab-agnostic pipeline.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CODE SPOTLIGHT 2 — Quaternion Solver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7EB"/>
                </a:solidFill>
              </a:rPr>
              <a:t>solve_csv_to_ue_rigjson.py: Converts marker positions → joint rotations using forward kinematics + hemisphere continuity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400800" cy="3840480"/>
          </a:xfrm>
          <a:prstGeom prst="rect">
            <a:avLst/>
          </a:prstGeom>
          <a:solidFill>
            <a:srgbClr val="12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217920" cy="3749039"/>
          </a:xfrm>
          <a:prstGeom prst="rect">
            <a:avLst/>
          </a:prstGeom>
          <a:solidFill>
            <a:srgbClr val="121624"/>
          </a:solidFill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Build rotation matrix from aim + pole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def frame_from_aim_pole(aim, pole):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y = norm(aim)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z = pole - dot(pole, y)*y  # orthogonalize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x = norm(cross(y, z))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return stack([x, y, z], axis=1)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CRITICAL: Prevent quaternion flip artifacts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def pole_continuous(pole, prev):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if dot(pole, prev) &lt; 0.0: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  <a:latin typeface="Courier New"/>
              </a:rPr>
              <a:t>        return -pole  # hemisphere flip fix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return pole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Delta relative to REST pose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</a:rPr>
              <a:t># Prevents 'double rotation' in Blender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delta = mul_quat(inv_quat(rest_local),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             local_quat[frame])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417320"/>
            <a:ext cx="4572000" cy="38404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C850"/>
                </a:solidFill>
              </a:rPr>
              <a:t>3 HARD PROBLEMS SOLVED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① Quaternion flips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Mocap noise causes 180° sign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flips. Hemisphere continuity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check prevents popping.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② Double rotation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Delta quats relative to rest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pose prevent accumulation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errors in Blender.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③ Torso listing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Global correction matrix at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calibration frame removes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constant lean/lean drift.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CODE SPOTLIGHT 3 — Skeletal Rigging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7EB"/>
                </a:solidFill>
              </a:rPr>
              <a:t>blender_virtual_csv_legs_to_fbx.py: Auto-builds Mixamo skeleton from measured bone lengths, warm-up blends T-pose → 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400800" cy="3840480"/>
          </a:xfrm>
          <a:prstGeom prst="rect">
            <a:avLst/>
          </a:prstGeom>
          <a:solidFill>
            <a:srgbClr val="12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217920" cy="3749039"/>
          </a:xfrm>
          <a:prstGeom prst="rect">
            <a:avLst/>
          </a:prstGeom>
          <a:solidFill>
            <a:srgbClr val="121624"/>
          </a:solidFill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Measure REAL bone lengths from data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thigh_l = (fr0['VLHI'] - fr0['VLKN']).length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calf_l  = (fr0['VLKN'] - fr0['VLAN']).length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Build T-pose with Mixamo names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</a:rPr>
              <a:t># (UE/Unity retarget works immediately)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add_bone("mixamorig:LeftUpLeg",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lhip, lhip + Vector((0,0,-thigh_l)),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parent="mixamorig:Hips")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64D2FF"/>
                </a:solidFill>
              </a:rPr>
              <a:t># Warm-up blend: T-pose → stable motion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A03C"/>
                </a:solidFill>
              </a:rPr>
              <a:t># Avoids jarring pop on frame 1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</a:rPr>
              <a:t>for i in range(WARMUP_BLEND_FRAMES):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t = i / float(WARMUP_BLEND_FRAMES)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pb.rotation_quaternion =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        q0.slerp(target_rot, t)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417320"/>
            <a:ext cx="4572000" cy="38404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50876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C850"/>
                </a:solidFill>
              </a:rPr>
              <a:t>ENGINEERING DECISIONS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Patient-specific sizing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Bones are measured from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each patient's actual data,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not a generic template.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Mixamo naming = free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retargeting to Mannequin,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MetaHuman, any UE character.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C6400"/>
                </a:solidFill>
              </a:rPr>
              <a:t>Warm-up blend (24 frames)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Smooth transition from rest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T-pose. No jarring artifacts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8D7EB"/>
                </a:solidFill>
              </a:rPr>
              <a:t>on first frame of motion.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LIVE DEMO — No Mocap Hardware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3657600" cy="2011680"/>
          </a:xfrm>
          <a:prstGeom prst="rect">
            <a:avLst/>
          </a:prstGeom>
          <a:solidFill>
            <a:srgbClr val="14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737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170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Open real clinical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572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Load t7updated2_1111111_2022_01_03_barewalk1.c3d</a:t>
            </a:r>
            <a:br/>
            <a:r>
              <a:t>Actual patient gait data from a real lab session.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657600" cy="2011680"/>
          </a:xfrm>
          <a:prstGeom prst="rect">
            <a:avLst/>
          </a:prstGeom>
          <a:solidFill>
            <a:srgbClr val="14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097280"/>
            <a:ext cx="73152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737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170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Run the pipeline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572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python inspect_c3d.py → auto-discovers markers</a:t>
            </a:r>
            <a:br/>
            <a:r>
              <a:t>Convert to virtual_joints.csv via Nexus or preview tool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097280"/>
            <a:ext cx="3657600" cy="2011680"/>
          </a:xfrm>
          <a:prstGeom prst="rect">
            <a:avLst/>
          </a:prstGeom>
          <a:solidFill>
            <a:srgbClr val="14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097280"/>
            <a:ext cx="73152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737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170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Blender headless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572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blender --background --python blender_virtual_csv...</a:t>
            </a:r>
            <a:br/>
            <a:r>
              <a:t>Watch skeleton appear. FBX exports in under 30 seconds.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3657600" cy="2011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383280"/>
            <a:ext cx="73152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023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56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Unreal Engine viewport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858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Import FBX. Retarget to Mannequin. Press Play.</a:t>
            </a:r>
            <a:br/>
            <a:r>
              <a:t>Patient walks across screen — no manual rigging needed.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657600" cy="2011680"/>
          </a:xfrm>
          <a:prstGeom prst="rect">
            <a:avLst/>
          </a:prstGeom>
          <a:solidFill>
            <a:srgbClr val="142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383280"/>
            <a:ext cx="73152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023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4564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6400"/>
                </a:solidFill>
              </a:rPr>
              <a:t>Show the gamification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858768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BF0F8"/>
                </a:solidFill>
              </a:rPr>
              <a:t>Mockup: rep counter, form score, streak system.</a:t>
            </a:r>
            <a:br/>
            <a:r>
              <a:t>Patient sees their own movement patterns, gamified.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MARKET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$45B+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US Physical</a:t>
            </a:r>
            <a:br/>
            <a:r>
              <a:t>Therapy 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097280"/>
            <a:ext cx="265176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Patient compliance</a:t>
            </a:r>
            <a:br/>
            <a:r>
              <a:t>drop after 2 weeks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2651760" cy="20116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30-60%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Adherence increase</a:t>
            </a:r>
            <a:br/>
            <a:r>
              <a:t>with gamification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097280"/>
            <a:ext cx="2651760" cy="2011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1887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</a:rPr>
              <a:t>$99/mo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103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BF0F8"/>
                </a:solidFill>
              </a:rPr>
              <a:t>Target clinic pricing</a:t>
            </a:r>
            <a:br/>
            <a:r>
              <a:t>vs $100K+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11247120" cy="18288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C6400"/>
                </a:solidFill>
              </a:rPr>
              <a:t>WHY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886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Consumer VR/AR is mainstream — Apple Vision Pro, Quest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69663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AI-driven form analysis is commercially viable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531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Post-COVID telehealth accelerated patient appetite for remote 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BF0F8"/>
                </a:solidFill>
              </a:rPr>
              <a:t>• UE5 MetaHuman = photorealistic patient avatars out of the box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TECHNICAL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155448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56032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459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1704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ezc3d: binary C3D parsing (industry standard library)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51790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Real patient file included: barewalk1.c3d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865376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Marker label auto-discovery → handles any lab's naming convention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88920"/>
            <a:ext cx="11430000" cy="155448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2560320" cy="155448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375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SOLVER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86207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Forward kinematics: marker positions → 23-joint skeleton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20954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Quaternion hemisphere continuity: zero flip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557015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Calibration frame auto-selection: mid-stance stability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904487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Delta quaternions relative to rest pose (prevents Blender double-rotation)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480560"/>
            <a:ext cx="11430000" cy="155448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480560"/>
            <a:ext cx="256032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0292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EXPORT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55371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Blender 4.2 scripted: headless, no GUI needed in CI/CD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901184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Mixamo-named armature: retargets to UE5 Mannequin + MetaHuman zero-touch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248656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24-frame warm-up blend: T-pose → motion, no jarring pop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596128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BF0F8"/>
                </a:solidFill>
              </a:rPr>
              <a:t>• Patient-specific bone lengths measured from data, not generic template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DEVELOPMENT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3566160" cy="502920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MVP</a:t>
            </a:r>
            <a:br/>
            <a:r>
              <a:t>4 Weeks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3566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C3D → FBX pipeline (this tool)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175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Real-time UE5 skeleton preview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8620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Rep counter + range-of-motion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754879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Single exercise type (gait analysis)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3566160" cy="5029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34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Beta</a:t>
            </a:r>
            <a:br/>
            <a:r>
              <a:t>8 Weeks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011680"/>
            <a:ext cx="3566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Clinic onboarding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175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Multi-exercise library (squat, reach, balance)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Patient progress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754879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AI form coaching overlays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143000"/>
            <a:ext cx="3566160" cy="5029200"/>
          </a:xfrm>
          <a:prstGeom prst="rect">
            <a:avLst/>
          </a:prstGeom>
          <a:solidFill>
            <a:srgbClr val="501E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2344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V1.0</a:t>
            </a:r>
            <a:br/>
            <a:r>
              <a:t>12 Weeks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011680"/>
            <a:ext cx="3566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14884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Mobile companion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0175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Cloud processing API (&lt;30s/session)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88620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EMR/EHR integration hooks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754879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BF0F8"/>
                </a:solidFill>
              </a:rPr>
              <a:t>✓ VR mode (Quest 3 / Vision Pro)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C6400"/>
                </a:solidFill>
              </a:rPr>
              <a:t>All phases build on the same C3D pipeline — architecture scales to full clinical product from day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4C8E6"/>
                </a:solidFill>
              </a:rPr>
              <a:t>The data already exists. The hardware is already installed.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We built the bridge.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4D2EB"/>
                </a:solidFill>
              </a:rPr>
              <a:t>C3D → FBX → Unreal Engine → Patient sees themselves moving in 3D, scored in real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4114800"/>
            <a:ext cx="3200400" cy="594360"/>
          </a:xfrm>
          <a:prstGeom prst="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413308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github.com/BetterCodeGoblin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4114800"/>
            <a:ext cx="3200400" cy="594360"/>
          </a:xfrm>
          <a:prstGeom prst="rect">
            <a:avLst/>
          </a:prstGeom>
          <a:solidFill>
            <a:srgbClr val="DC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3308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Request a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2A0BE"/>
                </a:solidFill>
              </a:rPr>
              <a:t>James Sypherd  ·  sypherdj1@gmail.com  ·  Cypher and Kato Game 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